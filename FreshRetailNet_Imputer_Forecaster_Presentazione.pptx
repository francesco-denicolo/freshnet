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73152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2194560" cy="5080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BENCHMARK SISTEMATICO · DEMAND FORECASTING NEL FRESH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698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L'imputazione dello stockout conta
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davvero per il forecasting?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39"/>
            <a:ext cx="10424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3E3"/>
                </a:solidFill>
                <a:latin typeface="Calibri"/>
              </a:rPr>
              <a:t>14 imputer × 8 forecaster = 113 combinazioni valutate su FreshRetailNet-50K (50.000 serie temporali, 898 negozi, 18 città).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0A1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7315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Francesco De Nicolo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FAEC2"/>
                </a:solidFill>
                <a:latin typeface="Calibri"/>
              </a:rPr>
              <a:t>Framework statistico: Friedman χ² + Kendall's W + Nemenyi CD (Demšar 2006)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6199632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52B"/>
                </a:solidFill>
                <a:latin typeface="Calibri"/>
              </a:rPr>
              <a:t>Giugno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Il messaggio in una 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11201400" cy="141732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417320"/>
            <a:ext cx="1069848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La famiglia di forecaster </a:t>
            </a:r>
            <a:r>
              <a:rPr sz="1700" b="1" i="0">
                <a:solidFill>
                  <a:srgbClr val="E9A52B"/>
                </a:solidFill>
                <a:latin typeface="Calibri"/>
              </a:rPr>
              <a:t>MLP_M5 domina il benchmark in ogni regime di volume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. All'interno di MLP_M5 la scelta dell'imputer è </a:t>
            </a:r>
            <a:r>
              <a:rPr sz="1700" b="1" i="0">
                <a:solidFill>
                  <a:srgbClr val="E9A52B"/>
                </a:solidFill>
                <a:latin typeface="Calibri"/>
              </a:rPr>
              <a:t>praticamente irrilevante</a:t>
            </a:r>
            <a:r>
              <a:rPr sz="1700" b="0" i="0">
                <a:solidFill>
                  <a:srgbClr val="FFFFFF"/>
                </a:solidFill>
                <a:latin typeface="Calibri"/>
              </a:rPr>
              <a:t> — i lag features M5 disaccoppiano il forecasting dalla qualità della recovery. L'imputer conta solo per i forecaster senza lag.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63240"/>
            <a:ext cx="2651760" cy="141732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63240"/>
            <a:ext cx="2651760" cy="50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227832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itransformer
__MLP_M5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13048"/>
            <a:ext cx="2523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Best globale assoluto
(mean rank 22.3 / 113)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3063240"/>
            <a:ext cx="2651760" cy="141732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3063240"/>
            <a:ext cx="265176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227832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"/>
              </a:rPr>
              <a:t>0.454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813048"/>
            <a:ext cx="2523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Kendall's W globale
(concordanza moderate)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063240"/>
            <a:ext cx="2651760" cy="141732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063240"/>
            <a:ext cx="2651760" cy="5080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0" y="3227832"/>
            <a:ext cx="2651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9A52B"/>
                </a:solidFill>
                <a:latin typeface="Calibri"/>
              </a:rPr>
              <a:t>W ≈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813048"/>
            <a:ext cx="25237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Effetto imputer per
MLP_M5 / LGB_M5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063240"/>
            <a:ext cx="2697480" cy="141732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3063240"/>
            <a:ext cx="2697480" cy="50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3227832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26 / 113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0848" y="3813048"/>
            <a:ext cx="256946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Celle Pareto-ottimali
(trade-off accuracy/bias)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00600"/>
            <a:ext cx="63500" cy="141732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80060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0">
                <a:solidFill>
                  <a:srgbClr val="2A9D8F"/>
                </a:solidFill>
                <a:latin typeface="Calibri"/>
              </a:rPr>
              <a:t>•  </a:t>
            </a:r>
            <a:r>
              <a:rPr sz="1250" b="0">
                <a:solidFill>
                  <a:srgbClr val="20242B"/>
                </a:solidFill>
                <a:latin typeface="Calibri"/>
              </a:rPr>
              <a:t>   Per il practitioner: con lag features M5 disponibili, investire nel forecaster (MLP_M5), non nell'imputer.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0">
                <a:solidFill>
                  <a:srgbClr val="2A9D8F"/>
                </a:solidFill>
                <a:latin typeface="Calibri"/>
              </a:rPr>
              <a:t>•  </a:t>
            </a:r>
            <a:r>
              <a:rPr sz="1250" b="0">
                <a:solidFill>
                  <a:srgbClr val="20242B"/>
                </a:solidFill>
                <a:latin typeface="Calibri"/>
              </a:rPr>
              <a:t>   L'imputer ha valore solo per foundation models (Chronos/TimesFM) e naive aggregati, dove la recovery predice direttamente il forecasting.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0">
                <a:solidFill>
                  <a:srgbClr val="2A9D8F"/>
                </a:solidFill>
                <a:latin typeface="Calibri"/>
              </a:rPr>
              <a:t>•  </a:t>
            </a:r>
            <a:r>
              <a:rPr sz="1250" b="0">
                <a:solidFill>
                  <a:srgbClr val="20242B"/>
                </a:solidFill>
                <a:latin typeface="Calibri"/>
              </a:rPr>
              <a:t>   Trade-off strutturale accuracy↔bias: i modelli ML/DL sotto-stimano sistematicamente; per ridurre il bias servono naive aggregati.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Cosa copre questa presentazione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658368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25880"/>
            <a:ext cx="6583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307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Contesto &amp;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161848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Il problema del censoring da stockout · FreshRetailNet-50K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20824"/>
            <a:ext cx="658368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020824"/>
            <a:ext cx="6583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00253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Disegno sperimentale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231343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Matrice 14×8 = 113 celle · metriche · framework statistico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715768"/>
            <a:ext cx="658368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715768"/>
            <a:ext cx="6583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697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RQ1 — Best cell &amp; regimi di volume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008376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Best assoluto, Pareto, crossover, l'imputer aiuta?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410712"/>
            <a:ext cx="658368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10712"/>
            <a:ext cx="6583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39242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RQ2 — La recovery predice il forecasting?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703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Correlazione recovery → forecasting per famiglia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05656"/>
            <a:ext cx="658368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05656"/>
            <a:ext cx="6583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08736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RQ3 — Foundation models per il retail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39826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Chronos-bolt e TimesFM: utili o no?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800600"/>
            <a:ext cx="658368" cy="5669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800600"/>
            <a:ext cx="6583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78231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Sintesi &amp; decision tree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09320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Messaggio scientifico + guida operativa per practitioner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495544"/>
            <a:ext cx="658368" cy="566928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95544"/>
            <a:ext cx="65836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547725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Appendice tecnica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788152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A5A5A"/>
                </a:solidFill>
                <a:latin typeface="Calibri"/>
              </a:rPr>
              <a:t>Framework, matrice completa, tabelle, bibliografia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CONTESTO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Il problema: vendite censurate dallo stockout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86400" cy="128016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5120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0E1F3A"/>
                </a:solidFill>
                <a:latin typeface="Calibri"/>
              </a:rPr>
              <a:t>S_obs(t) = min( D(t), I(t) 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Quando c'è stockout, le vendite osservate ≈ 0 a prescindere dalla domanda vera D(t).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▸ </a:t>
            </a:r>
            <a:r>
              <a:rPr sz="1350" b="0">
                <a:solidFill>
                  <a:srgbClr val="0E1F3A"/>
                </a:solidFill>
                <a:latin typeface="Calibri"/>
              </a:rPr>
              <a:t>Il censoring genera un ciclo vizioso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0">
                <a:solidFill>
                  <a:srgbClr val="2A9D8F"/>
                </a:solidFill>
                <a:latin typeface="Calibri"/>
              </a:rPr>
              <a:t>•  </a:t>
            </a:r>
            <a:r>
              <a:rPr sz="1250" b="0">
                <a:solidFill>
                  <a:srgbClr val="20242B"/>
                </a:solidFill>
                <a:latin typeface="Calibri"/>
              </a:rPr>
              <a:t>   I modelli imparano 'stockout → vendite 0' → sotto-stima sistematica della domanda latente.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▸ </a:t>
            </a:r>
            <a:r>
              <a:rPr sz="1350" b="0">
                <a:solidFill>
                  <a:srgbClr val="0E1F3A"/>
                </a:solidFill>
                <a:latin typeface="Calibri"/>
              </a:rPr>
              <a:t>La soluzione classica: imputare i buchi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0">
                <a:solidFill>
                  <a:srgbClr val="2A9D8F"/>
                </a:solidFill>
                <a:latin typeface="Calibri"/>
              </a:rPr>
              <a:t>•  </a:t>
            </a:r>
            <a:r>
              <a:rPr sz="1250" b="0">
                <a:solidFill>
                  <a:srgbClr val="20242B"/>
                </a:solidFill>
                <a:latin typeface="Calibri"/>
              </a:rPr>
              <a:t>   Ricostruire la domanda nelle ore di stockout prima di addestrare il forecaster (pipeline two-stage).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1">
                <a:solidFill>
                  <a:srgbClr val="1F4E79"/>
                </a:solidFill>
                <a:latin typeface="Calibri"/>
              </a:rPr>
              <a:t>▸ </a:t>
            </a:r>
            <a:r>
              <a:rPr sz="1350" b="0">
                <a:solidFill>
                  <a:srgbClr val="0E1F3A"/>
                </a:solidFill>
                <a:latin typeface="Calibri"/>
              </a:rPr>
              <a:t>La domanda aperta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50" b="0">
                <a:solidFill>
                  <a:srgbClr val="2A9D8F"/>
                </a:solidFill>
                <a:latin typeface="Calibri"/>
              </a:rPr>
              <a:t>•  </a:t>
            </a:r>
            <a:r>
              <a:rPr sz="1250" b="0">
                <a:solidFill>
                  <a:srgbClr val="20242B"/>
                </a:solidFill>
                <a:latin typeface="Calibri"/>
              </a:rPr>
              <a:t>   Quale imputer scegliere? E soprattutto: quanto incide davvero la scelta dell'imputer sul forecasting finale?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834640"/>
            <a:ext cx="5303520" cy="32004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834640"/>
            <a:ext cx="5303520" cy="5080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017520"/>
            <a:ext cx="4892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E9A52B"/>
                </a:solidFill>
                <a:latin typeface="Calibri"/>
              </a:rPr>
              <a:t>Perché è rilevante per il business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Retail deperibile (frutta, verdura, carne fresca): la sotto-stima della domanda porta a sotto-ordinare → stockout ricorrenti → vendite perse.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6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Stimare correttamente la </a:t>
            </a:r>
            <a:r>
              <a:rPr sz="1300" b="1" i="0">
                <a:solidFill>
                  <a:srgbClr val="E9A52B"/>
                </a:solidFill>
                <a:latin typeface="Calibri"/>
              </a:rPr>
              <a:t>domanda latente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è la base per dimensionare il riassortimento.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FreshRetailNet-50K — scala industriale, retail reale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2697480" cy="137160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2697480" cy="50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50.000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2569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serie temporali
(store × SKU)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1371600"/>
            <a:ext cx="2697480" cy="137160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371600"/>
            <a:ext cx="2697480" cy="50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1536192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898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136" y="2121408"/>
            <a:ext cx="2569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negozi in
18 città cinesi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17336" y="1371600"/>
            <a:ext cx="2697480" cy="137160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17336" y="1371600"/>
            <a:ext cx="2697480" cy="50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1536192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865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121408"/>
            <a:ext cx="2569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SKU deperibili
(fresco)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24544" y="1371600"/>
            <a:ext cx="2697480" cy="137160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24544" y="1371600"/>
            <a:ext cx="2697480" cy="50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24544" y="1536192"/>
            <a:ext cx="2697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4E79"/>
                </a:solidFill>
                <a:latin typeface="Calibri"/>
              </a:rPr>
              <a:t>21,2%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121408"/>
            <a:ext cx="2569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tasso medio
di stockout (ore 6–22)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971800"/>
            <a:ext cx="5577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Periodo: 28/03 → 02/07 2024 (97 giorni), granularità oraria.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Orario operativo ristretto alle ore 6–22 (17 h/giorno): le ore notturne hanno vendite ~0 e distorcerebbero il WAPE.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Split temporale: train gg 1–83 · validation gg 84–90 · test gg 91–97 (mai usato in training).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Covariate shift nel test: temperatura +7 °C, pioggia +59% (passaggio primavera → estate).</a:t>
            </a:r>
          </a:p>
          <a:p>
            <a:pPr>
              <a:lnSpc>
                <a:spcPct val="102000"/>
              </a:lnSpc>
              <a:spcAft>
                <a:spcPts val="8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Distribuzione sbilanciata: City 0 = 52% del dataset.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57101" y="2871216"/>
            <a:ext cx="4282357" cy="3401568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fig_heatmap_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1965" y="2926080"/>
            <a:ext cx="4172629" cy="32918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0800" y="626364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Heatmap WAPE sulla matrice imputer × forecaster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DISEGNO SPERIMENTALE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La matrice: 14 imputer × 8 forecaster = 113 celle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6235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▸ </a:t>
            </a:r>
            <a:r>
              <a:rPr sz="1250" b="0">
                <a:solidFill>
                  <a:srgbClr val="0E1F3A"/>
                </a:solidFill>
                <a:latin typeface="Calibri"/>
              </a:rPr>
              <a:t>14 imputer in 4 famiglie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Baseline (no_imp) · naive aggregati (media/mediana × glob/cond) · classici (forward/seasonal/linear) · ML &amp; DL (LGB, DLinear, SAITS, iTransformer, TimesNet, ImputeFormer, CSDI).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▸ </a:t>
            </a:r>
            <a:r>
              <a:rPr sz="1250" b="0">
                <a:solidFill>
                  <a:srgbClr val="0E1F3A"/>
                </a:solidFill>
                <a:latin typeface="Calibri"/>
              </a:rPr>
              <a:t>8 forecaster in 4 famiglie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Naive (Global/DoW Mean, MA K=21) · ML (LGB) · DL (MLP, TFT) · Foundation (Chronos-bolt, TimesFM).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325880"/>
            <a:ext cx="5257800" cy="23317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325880"/>
            <a:ext cx="525780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63040"/>
            <a:ext cx="484632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0E1F3A"/>
                </a:solidFill>
                <a:latin typeface="Calibri"/>
              </a:rPr>
              <a:t>Metriche (solo ore in-stock del test)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WAPE</a:t>
            </a:r>
            <a:r>
              <a:rPr sz="1300" b="0" i="0">
                <a:solidFill>
                  <a:srgbClr val="20242B"/>
                </a:solidFill>
                <a:latin typeface="Calibri"/>
              </a:rPr>
              <a:t> = Σ|pred − obs| / Σobs   →  accuratezza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F4E79"/>
                </a:solidFill>
                <a:latin typeface="Calibri"/>
              </a:rPr>
              <a:t>WPE</a:t>
            </a:r>
            <a:r>
              <a:rPr sz="1300" b="0" i="0">
                <a:solidFill>
                  <a:srgbClr val="20242B"/>
                </a:solidFill>
                <a:latin typeface="Calibri"/>
              </a:rPr>
              <a:t>  = Σ(pred − obs) / Σobs   →  bias / sotto-stima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Con N=50K serie, p-value ≈ 0 ovunque → l'</a:t>
            </a:r>
            <a:r>
              <a:rPr sz="1200" b="1" i="0">
                <a:solidFill>
                  <a:srgbClr val="2A9D8F"/>
                </a:solidFill>
                <a:latin typeface="Calibri"/>
              </a:rPr>
              <a:t>effect size</a:t>
            </a:r>
            <a:r>
              <a:rPr sz="1200" b="0" i="0">
                <a:solidFill>
                  <a:srgbClr val="20242B"/>
                </a:solidFill>
                <a:latin typeface="Calibri"/>
              </a:rPr>
              <a:t> è la metrica discriminante.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886200"/>
            <a:ext cx="11201400" cy="86868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59352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52B"/>
                </a:solidFill>
                <a:latin typeface="Calibri"/>
              </a:rPr>
              <a:t>Direct forecast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: i lag features sono fissati all'anchor giorno 90 e applicati a tutti i 7 giorni di test. Variano solo le covariate esogene → questo isola l'effetto dell'imputation (l'unica differenza tra 'no_imp' e 'imputer X' è la qualità dei lag).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983480"/>
            <a:ext cx="3630168" cy="14173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983480"/>
            <a:ext cx="3630168" cy="5080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749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9A52B"/>
                </a:solidFill>
                <a:latin typeface="Calibri"/>
              </a:rPr>
              <a:t>RQ1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40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Qual è la migliore combinazione e come cambia col volume? L'imputer aiuta?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59" y="4983480"/>
            <a:ext cx="3630168" cy="14173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59" y="4983480"/>
            <a:ext cx="3630168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19" y="50749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RQ2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5440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La qualità della recovery predice la qualità del forecasting?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0998" y="4983480"/>
            <a:ext cx="3630168" cy="14173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0998" y="4983480"/>
            <a:ext cx="3630168" cy="50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8" y="5074920"/>
            <a:ext cx="3383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4E79"/>
                </a:solidFill>
                <a:latin typeface="Calibri"/>
              </a:rPr>
              <a:t>RQ3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58" y="54406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I foundation models sono competitivi sul retail deperibile?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METODO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Un solo framework statistico, tre livelli di analisi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11064240" cy="105156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417320"/>
            <a:ext cx="76200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527048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F4E79"/>
                </a:solidFill>
                <a:latin typeface="Calibri"/>
              </a:rPr>
              <a:t>Friedman χ²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08760"/>
            <a:ext cx="7863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42B"/>
                </a:solidFill>
                <a:latin typeface="Calibri"/>
              </a:rPr>
              <a:t>Rifiuta H0: 'tutte le k celle hanno la stessa distribuzione di rank'. Test non-parametrico su ranking cross-serie.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5000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5A5A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15768"/>
            <a:ext cx="11064240" cy="105156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715768"/>
            <a:ext cx="76200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25496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Kendall's 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07208"/>
            <a:ext cx="7863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42B"/>
                </a:solidFill>
                <a:latin typeface="Calibri"/>
              </a:rPr>
              <a:t>Effect size globale ∈ [0,1]: quanto è concorde il ranking tra le serie. &lt;0.1 negligible · 0.3–0.5 moderate · ≥0.5 large.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648456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5A5A5A"/>
                </a:solidFill>
                <a:latin typeface="Calibri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14216"/>
            <a:ext cx="11064240" cy="105156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14216"/>
            <a:ext cx="76200" cy="105156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23944"/>
            <a:ext cx="27432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9A52B"/>
                </a:solidFill>
                <a:latin typeface="Calibri"/>
              </a:rPr>
              <a:t>Nemenyi 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105656"/>
            <a:ext cx="7863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42B"/>
                </a:solidFill>
                <a:latin typeface="Calibri"/>
              </a:rPr>
              <a:t>Critical Difference post-hoc: due celle sono indistinguibili se |Δ mean-rank| ≤ CD → definisce l'equivalence set.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40680"/>
            <a:ext cx="11064240" cy="86868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513832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52B"/>
                </a:solidFill>
                <a:latin typeface="Calibri"/>
              </a:rPr>
              <a:t>Stesso framework applicato a 3 scope: 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(1) globale sulla matrice intera · (2) stratificato per quartile di volume · (3) ristretto per singolo forecaster. Cliff's δ resta come effect size descrittivo (mai come decision rule).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175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37160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Best cell, regimi di volume
e ruolo dell'imputer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3E3"/>
                </a:solidFill>
                <a:latin typeface="Calibri"/>
              </a:rPr>
              <a:t>RQ1 — Qual è la combinazione vincente? Come cambia col volume? L'imputazione aiuta davvero?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7A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RQ1.1 — BEST GLOBALE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Una sola famiglia di forecaster vince: MLP_M5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Best assoluto: itransformer__MLP_M5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Mean rank 22.27 su 113 celle. Kendall's W = 0.454 (moderate) → il ranking è generalizzabile cross-serie.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Equivalence set di sole 2 celle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itransformer__MLP_M5 (rank 22.27) e lgb__MLP_M5 (rank 22.78, Δ=0.51 ≤ CD=0.903).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1">
                <a:solidFill>
                  <a:srgbClr val="E9A52B"/>
                </a:solidFill>
                <a:latin typeface="Calibri"/>
              </a:rPr>
              <a:t>Entrambe sono MLP_M5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La famiglia di forecaster vincente è isolata: l'imputer cambia, la famiglia 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551257"/>
            <a:ext cx="5596128" cy="3206846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cd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6121"/>
            <a:ext cx="5486400" cy="30971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09360" y="50749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Critical Difference diagram — ranking globale delle 113 celle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440680"/>
            <a:ext cx="5486400" cy="8686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440680"/>
            <a:ext cx="63500" cy="86868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513832"/>
            <a:ext cx="51206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Finding 1.1: </a:t>
            </a:r>
            <a:r>
              <a:rPr sz="1250" b="0" i="0">
                <a:solidFill>
                  <a:srgbClr val="20242B"/>
                </a:solidFill>
                <a:latin typeface="Calibri"/>
              </a:rPr>
              <a:t>il vincitore è la famiglia MLP_M5, non un imputer specifico. W moderate → risultato robusto.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RQ1.1 — TRADE-OFF ACCURACY × BIAS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Pareto frontier globale: accuracy e bias non si massimizzano insieme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" y="1716532"/>
            <a:ext cx="6144768" cy="3790696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19_pareto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71396"/>
            <a:ext cx="6035040" cy="3680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989320"/>
            <a:ext cx="6035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Pareto su (WAPE, |WPE|) — 26/113 celle non dominate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766560" y="1463040"/>
          <a:ext cx="50291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/>
                <a:gridCol w="2011679"/>
                <a:gridCol w="822959"/>
                <a:gridCol w="82295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Ruolo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Cella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WAPE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|WPE|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Best WAPE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timesnet__MLP_M5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1F4E79"/>
                          </a:solidFill>
                          <a:latin typeface="Calibri"/>
                        </a:rPr>
                        <a:t>0.973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0.886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Knee (bilanciato)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mediana_glob__dow_mean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1.101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2A9D8F"/>
                          </a:solidFill>
                          <a:latin typeface="Calibri"/>
                        </a:rPr>
                        <a:t>0.190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Min |WPE|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linear_interp__timesfm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1.295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2A9D8F"/>
                          </a:solidFill>
                          <a:latin typeface="Calibri"/>
                        </a:rPr>
                        <a:t>0.061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766560" y="3200400"/>
            <a:ext cx="50292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▸ </a:t>
            </a:r>
            <a:r>
              <a:rPr sz="1250" b="1">
                <a:solidFill>
                  <a:srgbClr val="E9A52B"/>
                </a:solidFill>
                <a:latin typeface="Calibri"/>
              </a:rPr>
              <a:t>Il trade-off è strutturale.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Il best-WAPE ha sempre |WPE| ≥ 0.77: i forecaster ML/DL sotto-stimano sistematicamente.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Per ridurre il bias servono naive aggregati (Global/DoW/MA), che pagano in WAPE.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Il knee point mediana_glob__dow_mean è il compromesso ragionevole per chi valuta sia accuracy che bias.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RQ1.2 — ROBUSTEZZA PER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Crossover soft: MLP_M5 vince ovunque, cambia solo l'imputer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15567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393"/>
                <a:gridCol w="2051619"/>
                <a:gridCol w="3333881"/>
                <a:gridCol w="2308071"/>
                <a:gridCol w="1538714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Quartile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Range volume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Best cell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Kendall W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CD-equiv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Q1 (basso)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[11, 40]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50">
                          <a:solidFill>
                            <a:srgbClr val="1F4E79"/>
                          </a:solidFill>
                          <a:latin typeface="Calibri"/>
                        </a:rPr>
                        <a:t>lgb__MLP_M5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0.653 (large)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(40, 54]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50">
                          <a:solidFill>
                            <a:srgbClr val="1F4E79"/>
                          </a:solidFill>
                          <a:latin typeface="Calibri"/>
                        </a:rPr>
                        <a:t>lgb__MLP_M5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0.586 (large)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Q3 (medio-alto)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(54, 86]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50">
                          <a:solidFill>
                            <a:srgbClr val="1F4E79"/>
                          </a:solidFill>
                          <a:latin typeface="Calibri"/>
                        </a:rPr>
                        <a:t>itransformer__MLP_M5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0.417 (moderate)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Q4 (alto)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(86, 5326]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50">
                          <a:solidFill>
                            <a:srgbClr val="1F4E79"/>
                          </a:solidFill>
                          <a:latin typeface="Calibri"/>
                        </a:rPr>
                        <a:t>itransformer__MLP_M5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0.396 (moderate)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50">
                          <a:solidFill>
                            <a:srgbClr val="2024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657600"/>
            <a:ext cx="6583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▸ </a:t>
            </a:r>
            <a:r>
              <a:rPr sz="1250" b="1">
                <a:solidFill>
                  <a:srgbClr val="E9A52B"/>
                </a:solidFill>
                <a:latin typeface="Calibri"/>
              </a:rPr>
              <a:t>La famiglia MLP_M5 è invariata in tutti i regimi.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Cambia solo l'imputer ottimale: lgb in basso volume (Q1/Q2), itransformer in alto volume (Q3/Q4).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Q4 è il regime più discriminante (solo 2 celle equivalenti); Q1 il più saturato (12).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W e numero di equivalenti non sono ridondanti: misurano concordanza globale e separazione locale dentro la famiglia vincente.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657600"/>
            <a:ext cx="4206240" cy="246888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3657600"/>
            <a:ext cx="4206240" cy="5080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840480"/>
            <a:ext cx="37947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E9A52B"/>
                </a:solidFill>
                <a:latin typeface="Calibri"/>
              </a:rPr>
              <a:t>In pratica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 scelta del forecaster (MLP_M5) è stabile a prescindere dal volume della serie.</a:t>
            </a:r>
          </a:p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 scelta dell'imputer è un dettaglio di second'ordine che dipende solo dal volume.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RQ1.2 — PARETO PER QUARTILE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Più volume = meno celle ottimali = scelta più decisiva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410" y="1271016"/>
            <a:ext cx="6208700" cy="4727448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20_pareto_per_quar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74" y="1325880"/>
            <a:ext cx="6098972" cy="4617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989320"/>
            <a:ext cx="6583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Pareto frontier WAPE × |WPE| dentro ciascun quartile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200" y="1417320"/>
          <a:ext cx="4480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5464"/>
                <a:gridCol w="1642872"/>
                <a:gridCol w="1792224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 Pareto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Top-WAPE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Q1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E9A52B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Q2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Q3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0.958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200">
                          <a:solidFill>
                            <a:srgbClr val="20242B"/>
                          </a:solidFill>
                          <a:latin typeface="Calibri"/>
                        </a:rPr>
                        <a:t>Q4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E9A52B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1F4E79"/>
                          </a:solidFill>
                          <a:latin typeface="Calibri"/>
                        </a:rPr>
                        <a:t>0.757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315200" y="3200400"/>
            <a:ext cx="44805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•  </a:t>
            </a:r>
            <a:r>
              <a:rPr sz="1100" b="0">
                <a:solidFill>
                  <a:srgbClr val="20242B"/>
                </a:solidFill>
                <a:latin typeface="Calibri"/>
              </a:rPr>
              <a:t>   # Pareto cala 28→12 da Q1 a Q4: alto volume = più discriminante.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•  </a:t>
            </a:r>
            <a:r>
              <a:rPr sz="1100" b="0">
                <a:solidFill>
                  <a:srgbClr val="20242B"/>
                </a:solidFill>
                <a:latin typeface="Calibri"/>
              </a:rPr>
              <a:t>   Basso volume: TFT popola la coda low-bias.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•  </a:t>
            </a:r>
            <a:r>
              <a:rPr sz="1100" b="0">
                <a:solidFill>
                  <a:srgbClr val="20242B"/>
                </a:solidFill>
                <a:latin typeface="Calibri"/>
              </a:rPr>
              <a:t>   Alto volume: MLP_M5 al top-WAPE, naive aggregati al low-bias — in Q4 i naive battono i ML su |WPE| (0.06 vs 0.41) pagando solo +3% WAPE.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•  </a:t>
            </a:r>
            <a:r>
              <a:rPr sz="1100" b="0">
                <a:solidFill>
                  <a:srgbClr val="20242B"/>
                </a:solidFill>
                <a:latin typeface="Calibri"/>
              </a:rPr>
              <a:t>   Chronos appare solo in Q2; TimesFM mai nei quartili.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RQ1.2 — CROSSOVER PER VOLUME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L'alto volume comprime le differenze tra famiglie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201" y="1271016"/>
            <a:ext cx="5960237" cy="4133088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rq3_crossover_fixed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065" y="1325880"/>
            <a:ext cx="5850509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3949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Evoluzione WAPE per famiglia di forecaster, Q1 → 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37160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Convergenza in Q4: ML, TFT e naive tutti a WAPE ≈ 0.77.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Naive vs ML: il gap scende da +25% (Q1) a 0% (Q4).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Chronos resta piatto (~1.00): non sfrutta il volume → perde relativamente.</a:t>
            </a:r>
          </a:p>
          <a:p>
            <a:pPr>
              <a:lnSpc>
                <a:spcPct val="102000"/>
              </a:lnSpc>
              <a:spcAft>
                <a:spcPts val="7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TimesFM è il peggiore in tutti i quartili.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4114800"/>
            <a:ext cx="4663440" cy="214884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86600" y="4114800"/>
            <a:ext cx="4663440" cy="5080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224528"/>
            <a:ext cx="420624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E9A52B"/>
                </a:solidFill>
                <a:latin typeface="Calibri"/>
              </a:rPr>
              <a:t>Decision tree practitioner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Basso volume: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ML con lag M5 (MLP/LGB/TFT); naive nettamente peggiori.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Alto volume: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la famiglia conta poco; i naive sono competitivi con bias molto migliore.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Foundation: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 solo baseline zero-shot, mai dominanti.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RQ1.3 — L'IMPUTER AIUTA?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Dicotomia netta: dipende dall'architettura del forecaster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1548504"/>
            <a:ext cx="6053328" cy="4126751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cd_per_foreca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03368"/>
            <a:ext cx="5943600" cy="4017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989320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CD ristretto: posizione di 'no_imp' per ciascun forecaster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629400" y="1371600"/>
          <a:ext cx="512063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8903"/>
                <a:gridCol w="1305261"/>
                <a:gridCol w="160647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Forecaster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Imputer aiuta?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Global / DoW / MA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0.44–0.47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TimesFM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0.174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Chronos-bolt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0.222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TFT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MLP_M5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0.029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C039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LGB_M5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0.009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C039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629400" y="429768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•  </a:t>
            </a:r>
            <a:r>
              <a:rPr sz="1100" b="0">
                <a:solidFill>
                  <a:srgbClr val="20242B"/>
                </a:solidFill>
                <a:latin typeface="Calibri"/>
              </a:rPr>
              <a:t>   Imputer-sensitive (naive, foundation, TFT): l'imputer aiuta sempre, ranking generalizzabile (W ≥ 0.22).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200" b="0">
                <a:solidFill>
                  <a:srgbClr val="2A9D8F"/>
                </a:solidFill>
                <a:latin typeface="Calibri"/>
              </a:rPr>
              <a:t>•  </a:t>
            </a:r>
            <a:r>
              <a:rPr sz="1100" b="0">
                <a:solidFill>
                  <a:srgbClr val="20242B"/>
                </a:solidFill>
                <a:latin typeface="Calibri"/>
              </a:rPr>
              <a:t>   Imputer-irrelevant (MLP_M5, LGB_M5): W ≈ 0 → ranking imputer praticamente casuale; 'no_imp' è equivalente al best.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RQ1.3 — ROBUSTEZZA ALLA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Il finding 'l'imputer non conta' sopravvive al cambio di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258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▸ </a:t>
            </a:r>
            <a:r>
              <a:rPr sz="1250" b="0">
                <a:solidFill>
                  <a:srgbClr val="0E1F3A"/>
                </a:solidFill>
                <a:latin typeface="Calibri"/>
              </a:rPr>
              <a:t>Il dubbio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'W ≈ 0 per MLP_M5/LGB_M5' è un artefatto della loss MSE non allineata al WAPE?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▸ </a:t>
            </a:r>
            <a:r>
              <a:rPr sz="1250" b="0">
                <a:solidFill>
                  <a:srgbClr val="0E1F3A"/>
                </a:solidFill>
                <a:latin typeface="Calibri"/>
              </a:rPr>
              <a:t>Il test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Ri-addestrate 24 celle con loss MAE; confronto pairwise Wilcoxon + Cliff δ.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1">
                <a:solidFill>
                  <a:srgbClr val="1F4E79"/>
                </a:solidFill>
                <a:latin typeface="Calibri"/>
              </a:rPr>
              <a:t>▸ </a:t>
            </a:r>
            <a:r>
              <a:rPr sz="1250" b="1">
                <a:solidFill>
                  <a:srgbClr val="E9A52B"/>
                </a:solidFill>
                <a:latin typeface="Calibri"/>
              </a:rPr>
              <a:t>Il risultato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0242B"/>
                </a:solidFill>
                <a:latin typeface="Calibri"/>
              </a:rPr>
              <a:t>   MAE migliora il WAPE in tutte le 24 celle, ma lo spread inter-imputer resta piccolo sotto entrambe le loss.</a:t>
            </a:r>
          </a:p>
          <a:p>
            <a:pPr>
              <a:lnSpc>
                <a:spcPct val="102000"/>
              </a:lnSpc>
              <a:spcAft>
                <a:spcPts val="500"/>
              </a:spcAft>
            </a:pPr>
            <a:r>
              <a:rPr sz="1250" b="0">
                <a:solidFill>
                  <a:srgbClr val="2A9D8F"/>
                </a:solidFill>
                <a:latin typeface="Calibri"/>
              </a:rPr>
              <a:t>•  </a:t>
            </a:r>
            <a:r>
              <a:rPr sz="1150" b="0">
                <a:solidFill>
                  <a:srgbClr val="2E7D32"/>
                </a:solidFill>
                <a:latin typeface="Calibri"/>
              </a:rPr>
              <a:t>   Conclusione: il finding è strutturale, non causato dalla loss.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0176" y="2256936"/>
            <a:ext cx="5870448" cy="2709888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ig_rq5_mae_vs_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11800"/>
            <a:ext cx="5760720" cy="2600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594360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Sensitivity analysis: training loss MAE vs MSE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175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37160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La recovery predice
il forecasting?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3E3"/>
                </a:solidFill>
                <a:latin typeface="Calibri"/>
              </a:rPr>
              <a:t>RQ2 — Una buona ricostruzione dei dati mancanti garantisce un buon forecasting downstream?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7A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RQ2 — RECOVERY →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Sì, ma solo quanto il forecaster dipende dai dati imputati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" y="2073898"/>
            <a:ext cx="5961888" cy="3075964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rq2_recovery_vs_fore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28762"/>
            <a:ext cx="5852160" cy="29662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598932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Correlazione per-serie recovery ↔ forecasting (Cliff δ vs 0)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0" y="1371600"/>
          <a:ext cx="516635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6585"/>
                <a:gridCol w="1359568"/>
                <a:gridCol w="1450206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Famiglia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Cliff δ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Naive (MA/DoW/Global)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+0.81…+0.87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Foundation (TimesFM/Chronos)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A9D8F"/>
                          </a:solidFill>
                          <a:latin typeface="Calibri"/>
                        </a:rPr>
                        <a:t>+0.47…+0.56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medium–LARGE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ML+lag (MLP/LGB M5)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5A5A5A"/>
                          </a:solidFill>
                          <a:latin typeface="Calibri"/>
                        </a:rPr>
                        <a:t>+0.14…+0.18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TFT (DL+lag)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C0392B"/>
                          </a:solidFill>
                          <a:latin typeface="Calibri"/>
                        </a:rPr>
                        <a:t>−0.24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small (inverso)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0" y="3383280"/>
            <a:ext cx="5166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b="0">
                <a:solidFill>
                  <a:srgbClr val="2A9D8F"/>
                </a:solidFill>
                <a:latin typeface="Calibri"/>
              </a:rPr>
              <a:t>•  </a:t>
            </a:r>
            <a:r>
              <a:rPr sz="1050" b="0">
                <a:solidFill>
                  <a:srgbClr val="20242B"/>
                </a:solidFill>
                <a:latin typeface="Calibri"/>
              </a:rPr>
              <a:t>   Naive: la predizione è quasi una funzione lineare dei valori imputati → recovery → forecasting deterministico.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b="0">
                <a:solidFill>
                  <a:srgbClr val="2A9D8F"/>
                </a:solidFill>
                <a:latin typeface="Calibri"/>
              </a:rPr>
              <a:t>•  </a:t>
            </a:r>
            <a:r>
              <a:rPr sz="1050" b="0">
                <a:solidFill>
                  <a:srgbClr val="20242B"/>
                </a:solidFill>
                <a:latin typeface="Calibri"/>
              </a:rPr>
              <a:t>   Foundation: ricevono il segnale ma lo trasformano → effetto attenuato ma reale.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b="0">
                <a:solidFill>
                  <a:srgbClr val="2A9D8F"/>
                </a:solidFill>
                <a:latin typeface="Calibri"/>
              </a:rPr>
              <a:t>•  </a:t>
            </a:r>
            <a:r>
              <a:rPr sz="1050" b="0">
                <a:solidFill>
                  <a:srgbClr val="20242B"/>
                </a:solidFill>
                <a:latin typeface="Calibri"/>
              </a:rPr>
              <a:t>   ML/DL con lag M5: i lag fanno da buffer → decoupling dalla qualità dell'imputer.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150" b="0">
                <a:solidFill>
                  <a:srgbClr val="2A9D8F"/>
                </a:solidFill>
                <a:latin typeface="Calibri"/>
              </a:rPr>
              <a:t>•  </a:t>
            </a:r>
            <a:r>
              <a:rPr sz="1050" b="0">
                <a:solidFill>
                  <a:srgbClr val="E9A52B"/>
                </a:solidFill>
                <a:latin typeface="Calibri"/>
              </a:rPr>
              <a:t>   Chiave del Finding 1.3: i lag M5 isolano il forecasting dalla recovery.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175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37160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Foundation models
per il retail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3E3"/>
                </a:solidFill>
                <a:latin typeface="Calibri"/>
              </a:rPr>
              <a:t>RQ3 — Chronos-bolt e TimesFM sono competitivi sul retail deperibile?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7A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RQ3 — FOUNDATION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Recovery-sensitive ma dominati da MLP_M5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71600"/>
            <a:ext cx="3566160" cy="137160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371600"/>
            <a:ext cx="356616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A9D8F"/>
                </a:solidFill>
                <a:latin typeface="Calibri"/>
              </a:rPr>
              <a:t>1.007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21408"/>
            <a:ext cx="34381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Chronos-bolt × no_imp
WAPE (competitivo)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3566160" cy="137160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3566160" cy="5080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1960" y="1536192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E9A52B"/>
                </a:solidFill>
                <a:latin typeface="Calibri"/>
              </a:rPr>
              <a:t>+18%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121408"/>
            <a:ext cx="343814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TimesFM peggio di Chronos
(CPU only, 5× più lento)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371600"/>
            <a:ext cx="3703320" cy="1371600"/>
          </a:xfrm>
          <a:prstGeom prst="rect">
            <a:avLst/>
          </a:prstGeom>
          <a:solidFill>
            <a:srgbClr val="ECEFF3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371600"/>
            <a:ext cx="3703320" cy="50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1536192"/>
            <a:ext cx="3703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0392B"/>
                </a:solidFill>
                <a:latin typeface="Calibri"/>
              </a:rPr>
              <a:t>~35–40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121408"/>
            <a:ext cx="35753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Mean rank foundation
vs 22.3 del best MLP_M5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1752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Entrambi recovery-sensitive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Cliff δ vs 0: TimesFM +0.556 (LARGE), Chronos +0.472 (medium). Best imputer coerente per entrambi: imputeformer.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1">
                <a:solidFill>
                  <a:srgbClr val="E9A52B"/>
                </a:solidFill>
                <a:latin typeface="Calibri"/>
              </a:rPr>
              <a:t>Ma dominati da MLP_M5 sulla matrice principale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Mean rank ≈ 35–40 contro 22.3 di itransformer__MLP_M5. Nessun regime di volume in cui dominano.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Ruolo pratico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Utili come baseline zero-shot quando non si hanno lag features; non competitivi sul retail deperibile con lag disponibili.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623560"/>
            <a:ext cx="11064240" cy="6858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87568"/>
            <a:ext cx="10607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52B"/>
                </a:solidFill>
                <a:latin typeface="Calibri"/>
              </a:rPr>
              <a:t>Finding 3: </a:t>
            </a:r>
            <a:r>
              <a:rPr sz="1250" b="0" i="0">
                <a:solidFill>
                  <a:srgbClr val="FFFFFF"/>
                </a:solidFill>
                <a:latin typeface="Calibri"/>
              </a:rPr>
              <a:t>i foundation models pagano la mancanza di lag features; il segnale imputato li influenza ma non basta a colmare il gap con MLP_M5.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175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37160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Sintesi &amp; guida operativa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3E3"/>
                </a:solidFill>
                <a:latin typeface="Calibri"/>
              </a:rPr>
              <a:t>Il messaggio scientifico e cosa farne in pratica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7A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SINTESI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Il messaggio scientifico chiave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11064240" cy="219456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371600"/>
            <a:ext cx="76200" cy="219456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554480"/>
            <a:ext cx="1051560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famiglia MLP_M5 domina il benchmark in ogni regime. </a:t>
            </a:r>
            <a:r>
              <a:rPr sz="1600" b="0" i="0">
                <a:solidFill>
                  <a:srgbClr val="DDE5F0"/>
                </a:solidFill>
                <a:latin typeface="Calibri"/>
              </a:rPr>
              <a:t>Dentro MLP_M5 la scelta dell'imputer è praticamente irrilevante (W ≈ 0) perché i lag features M5 disaccoppiano il forecasting dalla recovery quality. L'imputer conta solo per i forecaster senza lag — foundation models e naive aggregati — dove la recovery predice direttamente il forecasting (Cliff δ ≥ +0.47).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86200"/>
            <a:ext cx="3593592" cy="22402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86200"/>
            <a:ext cx="3593592" cy="508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79"/>
                </a:solidFill>
                <a:latin typeface="Calibri"/>
              </a:rPr>
              <a:t>Best globale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42B"/>
                </a:solidFill>
                <a:latin typeface="Calibri"/>
              </a:rPr>
              <a:t>itransformer__MLP_M5 · 2 celle equivalenti · W=0.454 moderate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52543" y="3886200"/>
            <a:ext cx="3593592" cy="22402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52543" y="3886200"/>
            <a:ext cx="3593592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35423" y="40233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Robustezza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3" y="4526280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42B"/>
                </a:solidFill>
                <a:latin typeface="Calibri"/>
              </a:rPr>
              <a:t>MLP_M5 vince in Q1→Q4; cambia solo l'imputer (lgb→itransformer)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6" y="3886200"/>
            <a:ext cx="3593592" cy="22402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5006" y="3886200"/>
            <a:ext cx="3593592" cy="5080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6" y="4023360"/>
            <a:ext cx="3246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52B"/>
                </a:solidFill>
                <a:latin typeface="Calibri"/>
              </a:rPr>
              <a:t>Imputer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6" y="4526280"/>
            <a:ext cx="32461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20242B"/>
                </a:solidFill>
                <a:latin typeface="Calibri"/>
              </a:rPr>
              <a:t>Irrilevante con lag M5; decisivo per naive &amp; foundation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GUIDA OPERATIVA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Decision tree per il practitioner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4069080" cy="868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371600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Hai lag features (storico ≥ 14 gg)?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426464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E7D32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0" y="1371600"/>
            <a:ext cx="6217920" cy="8686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371600"/>
            <a:ext cx="5897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Usa MLP_M5 (o LGB_M5). L'imputer è secondario: 'no_imp' va benissimo.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350008"/>
            <a:ext cx="406908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350008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Basso volume (Q1–Q2)?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04872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1F4E79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2350008"/>
            <a:ext cx="6217920" cy="8686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350008"/>
            <a:ext cx="5897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ML con lag M5 (MLP/LGB/TFT). I naive sono nettamente peggiori. Foundation solo come baseline.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28416"/>
            <a:ext cx="4069080" cy="8686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328416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Alto volume (Q4)?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383280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2A9D8F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3328416"/>
            <a:ext cx="6217920" cy="8686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3328416"/>
            <a:ext cx="5897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La famiglia conta poco: i naive aggregati sono competitivi e con bias molto migliore (|WPE| 0.06 vs 0.41).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06824"/>
            <a:ext cx="4069080" cy="86868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306824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Ti serve basso bias (no sotto-stima)?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361688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9A52B"/>
                </a:solidFill>
                <a:latin typeface="Calibr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0" y="4306824"/>
            <a:ext cx="6217920" cy="8686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4306824"/>
            <a:ext cx="5897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Naive aggregati (Global/DoW/MA) o il knee point mediana_glob__dow_mean. Paghi un po' di WAPE.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285232"/>
            <a:ext cx="4069080" cy="8686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85232"/>
            <a:ext cx="38404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Niente lag / cold start?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340096"/>
            <a:ext cx="457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5A5A5A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5285232"/>
            <a:ext cx="6217920" cy="86868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5285232"/>
            <a:ext cx="58978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Foundation zero-shot (Chronos-bolt) + imputer imputeformer. Baseline ragionevole, non ottimale.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TRASPARENZA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Limitazioni dichiarate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5532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Un solo dataset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Retail cinese deperibile, 3.5 mesi: niente stagionalità annuale.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Orizzonte breve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7 giorni di test; orizzonti più lunghi non valutati.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HP non ottimizzati per cella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HP standardizzati (sensitivity HPO in appendice mostra effetto piccolo).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Range stockout ristretto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16–31% per il 90% delle serie; stockout estremi (&gt;50%) non validati.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Sbilanciamento geografico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City 0 = 52% del dataset (mitigato da modello globale + city_id).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Calibri"/>
              </a:rPr>
              <a:t>▸ </a:t>
            </a:r>
            <a:r>
              <a:rPr sz="1300" b="0">
                <a:solidFill>
                  <a:srgbClr val="0E1F3A"/>
                </a:solidFill>
                <a:latin typeface="Calibri"/>
              </a:rPr>
              <a:t>Asimmetrie di pipeline</a:t>
            </a:r>
          </a:p>
          <a:p>
            <a:pPr>
              <a:lnSpc>
                <a:spcPct val="102000"/>
              </a:lnSpc>
              <a:spcAft>
                <a:spcPts val="600"/>
              </a:spcAft>
            </a:pPr>
            <a:r>
              <a:rPr sz="1300" b="0">
                <a:solidFill>
                  <a:srgbClr val="2A9D8F"/>
                </a:solidFill>
                <a:latin typeface="Calibri"/>
              </a:rPr>
              <a:t>•  </a:t>
            </a:r>
            <a:r>
              <a:rPr sz="1200" b="0">
                <a:solidFill>
                  <a:srgbClr val="20242B"/>
                </a:solidFill>
                <a:latin typeface="Calibri"/>
              </a:rPr>
              <a:t>   Alcuni imputer DL slim per vincoli CPU; 4 celle TFT escluse per OOM.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CONCLUSIONI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Cosa portare a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777240" cy="10789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371600"/>
            <a:ext cx="7772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371600"/>
            <a:ext cx="10149840" cy="107899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481328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MLP_M5 è la scelta di default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874520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Vince in ogni regime di volume con ranking generalizzabile (W moderate). È la decisione che conta di più.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578608"/>
            <a:ext cx="777240" cy="10789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78608"/>
            <a:ext cx="7772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2578608"/>
            <a:ext cx="10149840" cy="107899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2688336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L'imputer è sopravvalutato (con lag)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081528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Con lag features M5 + loss allineata, la scelta dell'imputer è rumore. Risparmia complessità di pipeline.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785616"/>
            <a:ext cx="777240" cy="1078992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85616"/>
            <a:ext cx="7772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3785616"/>
            <a:ext cx="10149840" cy="107899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83080" y="3895344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L'imputer conta senza 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288536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Per naive e foundation models la recovery predice il forecasting: lì investire in un buon imputer (imputeformer/mediana_glob) ripaga.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92624"/>
            <a:ext cx="777240" cy="107899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92624"/>
            <a:ext cx="777240" cy="10789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54480" y="4992624"/>
            <a:ext cx="10149840" cy="107899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83080" y="5102352"/>
            <a:ext cx="9692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0E1F3A"/>
                </a:solidFill>
                <a:latin typeface="Calibri"/>
              </a:rPr>
              <a:t>Accuracy e bias sono in trade-off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5495544"/>
            <a:ext cx="9692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20242B"/>
                </a:solidFill>
                <a:latin typeface="Calibri"/>
              </a:rPr>
              <a:t>Nessuna singola soluzione ottimale: scegliere lungo la Pareto frontier in base al costo relativo di errore vs sotto-stima.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3175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137160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89611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Appendice tecnica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3E3"/>
                </a:solidFill>
                <a:latin typeface="Calibri"/>
              </a:rPr>
              <a:t>Framework dettagliato, matrice completa, tabelle numeriche, bibliografia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7A8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APPENDICE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Framework statistico — mappa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371600"/>
          <a:ext cx="1120139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6717"/>
                <a:gridCol w="3953435"/>
                <a:gridCol w="2415988"/>
                <a:gridCol w="285525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Sezione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Domanda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Effect size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RQ1.1 / 1.2 / 1.3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Best cell + equivalence set (k&gt;2 metodi)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Friedman χ²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Kendall's W + Nemenyi CD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RQ1.1b / 1.2b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Trade-off WAPE × |WPE|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dominance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n. celle Pareto-ottimali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RQ1.2c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Crossover famiglie per quartile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descrittivo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Δ WAPE per famiglia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RQ1.3.1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Robustezza loss MAE vs MSE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Wilcoxon paired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Cliff δ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Recovery vs forecasting (correlazione)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Wilcoxon vs 0 (su ρ_i)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Cliff δ vs 0 + CI bootstrap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Foundation models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come RQ1 + RQ2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come RQ1 + RQ2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2120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F3A"/>
                </a:solidFill>
                <a:latin typeface="Calibri"/>
              </a:rPr>
              <a:t>Nota metodologica: </a:t>
            </a:r>
            <a:r>
              <a:rPr sz="1200" b="0" i="0">
                <a:solidFill>
                  <a:srgbClr val="20242B"/>
                </a:solidFill>
                <a:latin typeface="Calibri"/>
              </a:rPr>
              <a:t>nessun TOST e nessuna soglia Cliff δ &lt; 0.147 come decision rule. Cliff δ è usato solo come effect size descrittivo. Gli script TOST/threshold restano come materiale supplementare non citato nel paper.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APPENDICE 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La matrice completa: 14 imputer × 8 forecaster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325880"/>
          <a:ext cx="557783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323"/>
                <a:gridCol w="3432516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Famiglia imputer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Imputer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Baseline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no_imp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Naive aggregati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media/mediana × glob/cond (4)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Classici TS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forward_fill, seasonal_naive, linear_interp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ML / DL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lgb, dlinear, saits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SOTA (paper)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iTransformer, TimesNet, ImputeFormer, CSDI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355080" y="1325880"/>
          <a:ext cx="53492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320954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Famiglia forecaster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Forecaster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Global Mean, DoW Mean, MA (K=21)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ML tabellare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LGB (M5 lags)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Deep Learning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MLP (M5 lags), TFT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50">
                          <a:solidFill>
                            <a:srgbClr val="20242B"/>
                          </a:solidFill>
                          <a:latin typeface="Calibri"/>
                        </a:rPr>
                        <a:t>Chronos-bolt, TimesFM 2.5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4754880"/>
            <a:ext cx="11201400" cy="13716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754880"/>
            <a:ext cx="63500" cy="13716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892040"/>
            <a:ext cx="10698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Lag M5-style (11 feature): </a:t>
            </a:r>
            <a:r>
              <a:rPr sz="1250" b="0" i="0">
                <a:solidFill>
                  <a:srgbClr val="20242B"/>
                </a:solidFill>
                <a:latin typeface="Calibri"/>
              </a:rPr>
              <a:t>lag_1d, lag_7d, lag_14d, rmean_7d, rmean_14d, rstd_7d, lag_dow, rmean_dow, daily_total_lag1, daily_total_rmean7, momentum_1d_7d.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A5A5A"/>
                </a:solidFill>
                <a:latin typeface="Calibri"/>
              </a:rPr>
              <a:t>Sono questi lag a fare da 'buffer' che disaccoppia MLP_M5 / LGB_M5 dalla qualità dell'imputer.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APPENDICE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RQ1.3 — L'imputer aiuta? Tabella completa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1371600"/>
          <a:ext cx="10972798" cy="3538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024"/>
                <a:gridCol w="602901"/>
                <a:gridCol w="2291024"/>
                <a:gridCol w="1446962"/>
                <a:gridCol w="1446962"/>
                <a:gridCol w="1688123"/>
                <a:gridCol w="1205802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Forecaster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Friedman best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no_imp pos.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Kendall W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Categoria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Aiuta?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Global Mean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mediana_glob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6°/14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0.469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MA_K21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mediana_glob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4°/14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0.464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DoW Mean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mediana_glob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5°/14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0.445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TimesFM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imputeformer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2°/14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0.174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Chronos-bolt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imputeformer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2°/14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0.222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TFT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dlinear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2°/13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MLP_M5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itransformer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9°/14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0.029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C039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LGB_M5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mediana_glob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8°/14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0.009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C0392B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39496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Best imputer coerente: imputeformer per foundation models · mediana_glob per naive · dlinear per TFT. Per MLP_M5 / LGB_M5 il ranking degli imputer è praticamente casuale (W ≈ 0).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APPENDICE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RQ2 — Recovery → Forecasting, dettaglio per forecaster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14400" y="1371600"/>
          <a:ext cx="10332718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288"/>
                <a:gridCol w="1589649"/>
                <a:gridCol w="1362556"/>
                <a:gridCol w="1589649"/>
                <a:gridCol w="2157381"/>
                <a:gridCol w="1703195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Forecaster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Famiglia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median ρ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Cliff δ vs 0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Categoria Romano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Predice?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MA_K21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+0.800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+0.868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SÌ (massimo)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DoW Mean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+0.867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+0.823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Global Mean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+0.883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E7D32"/>
                          </a:solidFill>
                          <a:latin typeface="Calibri"/>
                        </a:rPr>
                        <a:t>+0.813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TimesFM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+0.333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A9D8F"/>
                          </a:solidFill>
                          <a:latin typeface="Calibri"/>
                        </a:rPr>
                        <a:t>+0.556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LARGE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Chronos-bolt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foundation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+0.367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2A9D8F"/>
                          </a:solidFill>
                          <a:latin typeface="Calibri"/>
                        </a:rPr>
                        <a:t>+0.472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SÌ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MLP_M5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ML+lag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+0.100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5A5A5A"/>
                          </a:solidFill>
                          <a:latin typeface="Calibri"/>
                        </a:rPr>
                        <a:t>+0.183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small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debole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LGB_M5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ML+lag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+0.100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5A5A5A"/>
                          </a:solidFill>
                          <a:latin typeface="Calibri"/>
                        </a:rPr>
                        <a:t>+0.142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borderline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quasi no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TFT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DL+lag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−0.143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C0392B"/>
                          </a:solidFill>
                          <a:latin typeface="Calibri"/>
                        </a:rPr>
                        <a:t>−0.239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small (inverso)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100">
                          <a:solidFill>
                            <a:srgbClr val="20242B"/>
                          </a:solidFill>
                          <a:latin typeface="Calibri"/>
                        </a:rPr>
                        <a:t>no, opposto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5A5A"/>
                </a:solidFill>
                <a:latin typeface="Calibri"/>
              </a:rPr>
              <a:t>La dipendenza recovery→forecasting cresce con la dipendenza diretta dai dati imputati: naive ≫ foundation ≫ ML+lag.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APPENDICE 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Qualità dell'imputation (Traccia A — MNAR recovery)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45936" y="1955516"/>
            <a:ext cx="5504688" cy="3404168"/>
          </a:xfrm>
          <a:prstGeom prst="rect">
            <a:avLst/>
          </a:prstGeom>
          <a:solidFill>
            <a:srgbClr val="FFFFFF"/>
          </a:solidFill>
          <a:ln w="15240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_rq2_per_series_spear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0380"/>
            <a:ext cx="5394960" cy="3294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0" y="5989320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A5A5A"/>
                </a:solidFill>
                <a:latin typeface="Calibri"/>
              </a:rPr>
              <a:t>Distribuzione per-serie della correlazione di Spearman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1371600"/>
          <a:ext cx="557783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714"/>
                <a:gridCol w="1510665"/>
                <a:gridCol w="139446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Imputer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WAPE_rec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FFFFFF"/>
                          </a:solidFill>
                          <a:latin typeface="Calibri"/>
                        </a:rPr>
                        <a:t>WPE_rec</a:t>
                      </a:r>
                    </a:p>
                  </a:txBody>
                  <a:tcPr marL="54864" marR="36576" marT="9144" marB="9144"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Mediana globale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2E7D32"/>
                          </a:solidFill>
                          <a:latin typeface="Calibri"/>
                        </a:rPr>
                        <a:t>0.809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−0.57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Mediana condizionata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0.846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−0.47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ImputeFormer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0.867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−0.74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LGB imputer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0.930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−0.10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iTransformer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0.930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−0.45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SAITS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0.943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−0.82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DLinear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0.951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−0.74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TimesNet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1.041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−0.87</a:t>
                      </a:r>
                    </a:p>
                  </a:txBody>
                  <a:tcPr marL="54864" marR="36576" marT="9144" marB="9144" anchor="ctr">
                    <a:solidFill>
                      <a:srgbClr val="ECEFF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Forward Fill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050">
                          <a:solidFill>
                            <a:srgbClr val="C0392B"/>
                          </a:solidFill>
                          <a:latin typeface="Calibri"/>
                        </a:rPr>
                        <a:t>1.188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050">
                          <a:solidFill>
                            <a:srgbClr val="20242B"/>
                          </a:solidFill>
                          <a:latin typeface="Calibri"/>
                        </a:rPr>
                        <a:t>+0.13</a:t>
                      </a:r>
                    </a:p>
                  </a:txBody>
                  <a:tcPr marL="54864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5440680"/>
            <a:ext cx="5577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5A5A"/>
                </a:solidFill>
                <a:latin typeface="Calibri"/>
              </a:rPr>
              <a:t>La Mediana globale ha la migliore recovery; ma — Finding chiave — la qualità della recovery NON è proxy del forecasting downstream (TimesNet, peggior recovery, dà il miglior MLP_M5).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74320"/>
            <a:ext cx="63500" cy="566928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01168"/>
            <a:ext cx="10424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A9D8F"/>
                </a:solidFill>
                <a:latin typeface="Calibri"/>
              </a:rPr>
              <a:t>APPENDICE A6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0607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F3A"/>
                </a:solidFill>
                <a:latin typeface="Calibri"/>
              </a:rPr>
              <a:t>Riferimenti bibliografici chiave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5A5A"/>
                </a:solidFill>
                <a:latin typeface="Calibr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510528"/>
            <a:ext cx="2926080" cy="1524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1908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A5A5A"/>
                </a:solidFill>
                <a:latin typeface="Calibri"/>
              </a:rPr>
              <a:t>FreshRetailNet-50K  ·  Imputer × Forecaster Benchmark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481328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Liu et al.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417320"/>
            <a:ext cx="79552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FreshRetailNet-50K: Latent Demand from 50,000 Stores for World-scale Stockout Prediction in Fresh Retail. arXiv:2505.16319.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157984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093976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Demšar (2006)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093976"/>
            <a:ext cx="79552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Statistical comparisons of classifiers over multiple data sets. JMLR. — Friedman + Nemenyi CD.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7063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Romano et al. (2006)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770632"/>
            <a:ext cx="79552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Appropriate statistics for ordinal level data. — soglie Cliff 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11296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47288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Du et al. (2023)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447288"/>
            <a:ext cx="79552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SAITS: Self-Attention-based Imputation for Time Series. NeurIPS.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187952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123944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Du et al. (2023)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123944"/>
            <a:ext cx="79552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PyPOTS: A Python Toolbox for Data Mining on Partially-Observed Time Series. arXiv:2305.18811.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64608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800600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Zeng et al. (2022)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4800600"/>
            <a:ext cx="79552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DLinear: Are Transformers Effective for Time Series Forecasting? AAAI 2023.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541264"/>
            <a:ext cx="50800" cy="5029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477256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F3A"/>
                </a:solidFill>
                <a:latin typeface="Calibri"/>
              </a:rPr>
              <a:t>Ansari et al. (2024)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39" y="5477256"/>
            <a:ext cx="795527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Chronos: Learning the Language of Time Series. arXiv:2403.07815.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1750"/>
          </a:xfrm>
          <a:prstGeom prst="rect">
            <a:avLst/>
          </a:prstGeom>
          <a:solidFill>
            <a:srgbClr val="E9A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20240"/>
            <a:ext cx="2194560" cy="508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Grazie.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9A52B"/>
                </a:solidFill>
                <a:latin typeface="Calibri"/>
              </a:rPr>
              <a:t>Domanda di ricerca, in una riga: 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7D3E3"/>
                </a:solidFill>
                <a:latin typeface="Calibri"/>
              </a:rPr>
              <a:t>con lag features disponibili, investi nel forecaster (MLP_M5) — non nell'imputer. L'imputazione conta solo quando il forecaster non ha lag.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37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AEC2"/>
                </a:solidFill>
                <a:latin typeface="Calibri"/>
              </a:rPr>
              <a:t>FreshRetailNet-50K · 14 imputer × 8 forecaster · 113 celle · Friedman + Kendall's W + Nemenyi 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